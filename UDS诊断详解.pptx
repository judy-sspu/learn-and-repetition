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1680" r:id="rId3"/>
    <p:sldId id="1684" r:id="rId4"/>
    <p:sldId id="1690" r:id="rId5"/>
    <p:sldId id="1691" r:id="rId6"/>
    <p:sldId id="1692" r:id="rId7"/>
    <p:sldId id="1689" r:id="rId8"/>
    <p:sldId id="1693" r:id="rId9"/>
    <p:sldId id="1694" r:id="rId10"/>
    <p:sldId id="1695" r:id="rId11"/>
    <p:sldId id="1696" r:id="rId12"/>
  </p:sldIdLst>
  <p:sldSz cx="9906000" cy="6858000" type="A4"/>
  <p:notesSz cx="7102475" cy="102330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FF33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3366FF"/>
    <a:srgbClr val="0000FF"/>
    <a:srgbClr val="0066FF"/>
    <a:srgbClr val="3399FF"/>
    <a:srgbClr val="9966FF"/>
    <a:srgbClr val="FFCC99"/>
    <a:srgbClr val="E19DA8"/>
    <a:srgbClr val="996633"/>
    <a:srgbClr val="3C6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4" autoAdjust="0"/>
    <p:restoredTop sz="95797" autoAdjust="0"/>
  </p:normalViewPr>
  <p:slideViewPr>
    <p:cSldViewPr>
      <p:cViewPr varScale="1">
        <p:scale>
          <a:sx n="85" d="100"/>
          <a:sy n="85" d="100"/>
        </p:scale>
        <p:origin x="-414" y="-8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4"/>
    </p:cViewPr>
  </p:sorterViewPr>
  <p:notesViewPr>
    <p:cSldViewPr>
      <p:cViewPr varScale="1">
        <p:scale>
          <a:sx n="56" d="100"/>
          <a:sy n="56" d="100"/>
        </p:scale>
        <p:origin x="-2982" y="-108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t" anchorCtr="0" compatLnSpc="1"/>
          <a:lstStyle>
            <a:lvl1pPr algn="l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524" y="0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t" anchorCtr="0" compatLnSpc="1"/>
          <a:lstStyle>
            <a:lvl1pPr algn="r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342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b" anchorCtr="0" compatLnSpc="1"/>
          <a:lstStyle>
            <a:lvl1pPr algn="l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524" y="9720342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b" anchorCtr="0" compatLnSpc="1"/>
          <a:lstStyle>
            <a:lvl1pPr algn="r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CD6EFD-D784-40FD-879E-6ED9CDE16F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t" anchorCtr="0" compatLnSpc="1"/>
          <a:lstStyle>
            <a:lvl1pPr algn="l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524" y="0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t" anchorCtr="0" compatLnSpc="1"/>
          <a:lstStyle>
            <a:lvl1pPr algn="r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8050" y="687388"/>
            <a:ext cx="5541963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0171"/>
            <a:ext cx="5682615" cy="46046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342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b" anchorCtr="0" compatLnSpc="1"/>
          <a:lstStyle>
            <a:lvl1pPr algn="l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524" y="9720342"/>
            <a:ext cx="3076363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0" tIns="49519" rIns="99040" bIns="49519" numCol="1" anchor="b" anchorCtr="0" compatLnSpc="1"/>
          <a:lstStyle>
            <a:lvl1pPr algn="r" defTabSz="990600">
              <a:buFontTx/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2B972A4-BB46-443B-B352-ECE5060947E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 userDrawn="1"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1292-5FF7-4384-AD59-739A86365218}" type="datetime1">
              <a:rPr lang="zh-CN" altLang="en-US"/>
            </a:fld>
            <a:endParaRPr lang="en-US" altLang="zh-CN" dirty="0"/>
          </a:p>
        </p:txBody>
      </p:sp>
      <p:sp>
        <p:nvSpPr>
          <p:cNvPr id="3" name="灯片编号占位符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1856B-9051-4ADD-A957-74959B3AF3C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1"/>
          <p:cNvSpPr>
            <a:spLocks noGrp="1"/>
          </p:cNvSpPr>
          <p:nvPr userDrawn="1"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E85C5-46F6-4427-B9D5-752494CF3FAE}" type="datetime1">
              <a:rPr lang="zh-CN" altLang="en-US"/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05337-DAFC-4D57-8980-72843D56EEE2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50838" y="6545263"/>
            <a:ext cx="24384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BD30A-2D77-42DC-BE70-8291760C26F8}" type="datetime1">
              <a:rPr lang="zh-CN" altLang="en-US"/>
            </a:fld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137400" y="6545263"/>
            <a:ext cx="2455863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08DFC-3752-4077-B54F-0F9E26A4FAB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50838" y="6545263"/>
            <a:ext cx="24384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FFBE8-7F50-4157-9F82-CE19C9377D72}" type="datetime1">
              <a:rPr lang="zh-CN" altLang="en-US"/>
            </a:fld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137400" y="6545263"/>
            <a:ext cx="2455863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FC8C6-C2B2-4A2D-A69A-B2A4642D4DF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02" name="Rectangle 14"/>
          <p:cNvSpPr>
            <a:spLocks noChangeArrowheads="1"/>
          </p:cNvSpPr>
          <p:nvPr/>
        </p:nvSpPr>
        <p:spPr bwMode="auto">
          <a:xfrm>
            <a:off x="0" y="836613"/>
            <a:ext cx="9906000" cy="73025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>
              <a:buFontTx/>
              <a:buChar char="•"/>
              <a:defRPr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703" name="Rectangle 15"/>
          <p:cNvSpPr>
            <a:spLocks noChangeArrowheads="1"/>
          </p:cNvSpPr>
          <p:nvPr/>
        </p:nvSpPr>
        <p:spPr bwMode="auto">
          <a:xfrm flipV="1">
            <a:off x="0" y="6581775"/>
            <a:ext cx="9906000" cy="276225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</a:ln>
          <a:effectLst/>
        </p:spPr>
        <p:txBody>
          <a:bodyPr/>
          <a:lstStyle/>
          <a:p>
            <a:pPr marL="1285875" indent="-371475" algn="ctr" eaLnBrk="0" hangingPunct="0">
              <a:buFont typeface="Wingdings" panose="05000000000000000000" pitchFamily="2" charset="2"/>
              <a:buNone/>
              <a:defRPr/>
            </a:pPr>
            <a:endParaRPr lang="zh-CN" altLang="zh-CN" sz="1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1"/>
          <p:cNvSpPr>
            <a:spLocks noGrp="1"/>
          </p:cNvSpPr>
          <p:nvPr userDrawn="1">
            <p:ph type="dt" sz="quarter" idx="2"/>
          </p:nvPr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A1870F0-032F-41A5-9913-8A77F09F2089}" type="datetime1">
              <a:rPr lang="zh-CN" altLang="en-US"/>
            </a:fld>
            <a:endParaRPr lang="en-US" altLang="zh-CN" dirty="0"/>
          </a:p>
        </p:txBody>
      </p:sp>
      <p:sp>
        <p:nvSpPr>
          <p:cNvPr id="6" name="灯片编号占位符 3"/>
          <p:cNvSpPr>
            <a:spLocks noGrp="1"/>
          </p:cNvSpPr>
          <p:nvPr userDrawn="1">
            <p:ph type="sldNum" sz="quarter" idx="4"/>
          </p:nvPr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1EA909-64FF-40E6-81EF-CB8AEAD9505F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pull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1640633" y="188913"/>
            <a:ext cx="7200156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一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. 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诊断实施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UDS</a:t>
            </a:r>
            <a:r>
              <a:rPr lang="en-US" altLang="zh-CN" dirty="0" smtClean="0">
                <a:solidFill>
                  <a:srgbClr val="003366"/>
                </a:solidFill>
                <a:ea typeface="黑体" panose="02010609060101010101" pitchFamily="2" charset="-122"/>
              </a:rPr>
              <a:t>ON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CAN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0472" y="980729"/>
            <a:ext cx="95050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chemeClr val="tx1"/>
                </a:solidFill>
              </a:rPr>
              <a:t>1 ECU </a:t>
            </a:r>
            <a:r>
              <a:rPr lang="zh-CN" altLang="en-US" sz="2400" dirty="0" smtClean="0">
                <a:solidFill>
                  <a:schemeClr val="tx1"/>
                </a:solidFill>
              </a:rPr>
              <a:t>分类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用于诊断通信的所有数据链路</a:t>
            </a:r>
            <a:r>
              <a:rPr lang="en-US" altLang="zh-CN" sz="2400" dirty="0" smtClean="0">
                <a:solidFill>
                  <a:schemeClr val="tx1"/>
                </a:solidFill>
              </a:rPr>
              <a:t>,</a:t>
            </a:r>
            <a:r>
              <a:rPr lang="zh-CN" altLang="en-US" sz="2400" dirty="0" smtClean="0">
                <a:solidFill>
                  <a:schemeClr val="tx1"/>
                </a:solidFill>
              </a:rPr>
              <a:t>应直接连接到车辆</a:t>
            </a:r>
            <a:r>
              <a:rPr lang="en-US" altLang="zh-CN" sz="2400" dirty="0" smtClean="0">
                <a:solidFill>
                  <a:schemeClr val="tx1"/>
                </a:solidFill>
              </a:rPr>
              <a:t>OBD</a:t>
            </a:r>
            <a:r>
              <a:rPr lang="zh-CN" altLang="en-US" sz="2400" dirty="0" smtClean="0">
                <a:solidFill>
                  <a:schemeClr val="tx1"/>
                </a:solidFill>
              </a:rPr>
              <a:t>诊断接口</a:t>
            </a:r>
            <a:r>
              <a:rPr lang="en-US" altLang="zh-CN" sz="2400" dirty="0" smtClean="0">
                <a:solidFill>
                  <a:schemeClr val="tx1"/>
                </a:solidFill>
              </a:rPr>
              <a:t>.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依据对故障自检测结果不同的处理方式，电控单元可分为两类：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</a:rPr>
              <a:t>A </a:t>
            </a:r>
            <a:r>
              <a:rPr lang="zh-CN" altLang="en-US" sz="2400" dirty="0" smtClean="0">
                <a:solidFill>
                  <a:schemeClr val="tx1"/>
                </a:solidFill>
              </a:rPr>
              <a:t>类电控单元：该类电控单元根据自检测结果判断是否产生故障，并存储相应的故障信息；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</a:rPr>
              <a:t>B </a:t>
            </a:r>
            <a:r>
              <a:rPr lang="zh-CN" altLang="en-US" sz="2400" dirty="0" smtClean="0">
                <a:solidFill>
                  <a:schemeClr val="tx1"/>
                </a:solidFill>
              </a:rPr>
              <a:t>类电控单元：该类电控单元根据自检测结果判断是否产生故障，并将故障的状态信息通过总线发送给</a:t>
            </a:r>
            <a:r>
              <a:rPr lang="en-US" altLang="zh-CN" sz="2400" dirty="0" smtClean="0">
                <a:solidFill>
                  <a:schemeClr val="tx1"/>
                </a:solidFill>
              </a:rPr>
              <a:t>A </a:t>
            </a:r>
            <a:r>
              <a:rPr lang="zh-CN" altLang="en-US" sz="2400" dirty="0" smtClean="0">
                <a:solidFill>
                  <a:schemeClr val="tx1"/>
                </a:solidFill>
              </a:rPr>
              <a:t>类电控单元。</a:t>
            </a:r>
            <a:r>
              <a:rPr lang="en-US" altLang="zh-CN" sz="2400" dirty="0" smtClean="0">
                <a:solidFill>
                  <a:schemeClr val="tx1"/>
                </a:solidFill>
              </a:rPr>
              <a:t>A </a:t>
            </a:r>
            <a:r>
              <a:rPr lang="zh-CN" altLang="en-US" sz="2400" dirty="0" smtClean="0">
                <a:solidFill>
                  <a:schemeClr val="tx1"/>
                </a:solidFill>
              </a:rPr>
              <a:t>类电控单元视为</a:t>
            </a:r>
            <a:r>
              <a:rPr lang="en-US" altLang="zh-CN" sz="2400" dirty="0" smtClean="0">
                <a:solidFill>
                  <a:schemeClr val="tx1"/>
                </a:solidFill>
              </a:rPr>
              <a:t>B </a:t>
            </a:r>
            <a:r>
              <a:rPr lang="zh-CN" altLang="en-US" sz="2400" dirty="0" smtClean="0">
                <a:solidFill>
                  <a:schemeClr val="tx1"/>
                </a:solidFill>
              </a:rPr>
              <a:t>类电控单元的主节点。故障信息的存储由主节点完成。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依此策略</a:t>
            </a:r>
            <a:r>
              <a:rPr lang="en-US" altLang="zh-CN" sz="2400" dirty="0" smtClean="0">
                <a:solidFill>
                  <a:schemeClr val="tx1"/>
                </a:solidFill>
              </a:rPr>
              <a:t>, BCM</a:t>
            </a:r>
            <a:r>
              <a:rPr lang="zh-CN" altLang="en-US" sz="2400" dirty="0" smtClean="0">
                <a:solidFill>
                  <a:schemeClr val="tx1"/>
                </a:solidFill>
              </a:rPr>
              <a:t>规划为</a:t>
            </a:r>
            <a:r>
              <a:rPr lang="en-US" altLang="zh-CN" sz="2400" dirty="0" smtClean="0">
                <a:solidFill>
                  <a:schemeClr val="tx1"/>
                </a:solidFill>
              </a:rPr>
              <a:t>A</a:t>
            </a:r>
            <a:r>
              <a:rPr lang="zh-CN" altLang="en-US" sz="2400" dirty="0" smtClean="0">
                <a:solidFill>
                  <a:schemeClr val="tx1"/>
                </a:solidFill>
              </a:rPr>
              <a:t>类</a:t>
            </a:r>
            <a:r>
              <a:rPr lang="en-US" altLang="zh-CN" sz="2400" dirty="0" smtClean="0">
                <a:solidFill>
                  <a:schemeClr val="tx1"/>
                </a:solidFill>
              </a:rPr>
              <a:t>, </a:t>
            </a:r>
            <a:r>
              <a:rPr lang="zh-CN" altLang="en-US" sz="2400" dirty="0" smtClean="0">
                <a:solidFill>
                  <a:schemeClr val="tx1"/>
                </a:solidFill>
              </a:rPr>
              <a:t>挂接在其</a:t>
            </a:r>
            <a:r>
              <a:rPr lang="en-US" altLang="zh-CN" sz="2400" dirty="0" smtClean="0">
                <a:solidFill>
                  <a:schemeClr val="tx1"/>
                </a:solidFill>
              </a:rPr>
              <a:t>LIN BUS</a:t>
            </a:r>
            <a:r>
              <a:rPr lang="zh-CN" altLang="en-US" sz="2400" dirty="0" smtClean="0">
                <a:solidFill>
                  <a:schemeClr val="tx1"/>
                </a:solidFill>
              </a:rPr>
              <a:t>上的</a:t>
            </a:r>
            <a:r>
              <a:rPr lang="en-US" altLang="zh-CN" sz="2400" dirty="0" smtClean="0">
                <a:solidFill>
                  <a:schemeClr val="tx1"/>
                </a:solidFill>
              </a:rPr>
              <a:t>ECU</a:t>
            </a:r>
            <a:r>
              <a:rPr lang="zh-CN" altLang="en-US" sz="2400" dirty="0" smtClean="0">
                <a:solidFill>
                  <a:schemeClr val="tx1"/>
                </a:solidFill>
              </a:rPr>
              <a:t>可可为</a:t>
            </a:r>
            <a:r>
              <a:rPr lang="en-US" altLang="zh-CN" sz="2400" dirty="0" smtClean="0">
                <a:solidFill>
                  <a:schemeClr val="tx1"/>
                </a:solidFill>
              </a:rPr>
              <a:t>B</a:t>
            </a:r>
            <a:r>
              <a:rPr lang="zh-CN" altLang="en-US" sz="2400" dirty="0" smtClean="0">
                <a:solidFill>
                  <a:schemeClr val="tx1"/>
                </a:solidFill>
              </a:rPr>
              <a:t>类</a:t>
            </a:r>
            <a:r>
              <a:rPr lang="en-US" altLang="zh-CN" sz="2400" dirty="0" smtClean="0">
                <a:solidFill>
                  <a:schemeClr val="tx1"/>
                </a:solidFill>
              </a:rPr>
              <a:t>.</a:t>
            </a:r>
            <a:endParaRPr lang="en-US" altLang="zh-CN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1568625" y="188913"/>
            <a:ext cx="8064895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二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. UDS</a:t>
            </a:r>
            <a:r>
              <a:rPr lang="en-US" altLang="zh-CN" sz="1800" dirty="0" smtClean="0">
                <a:solidFill>
                  <a:srgbClr val="003366"/>
                </a:solidFill>
                <a:ea typeface="黑体" panose="02010609060101010101" pitchFamily="2" charset="-122"/>
              </a:rPr>
              <a:t>ON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CAN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诊断协议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0472" y="1052736"/>
            <a:ext cx="950505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2 </a:t>
            </a:r>
            <a:r>
              <a:rPr lang="zh-CN" altLang="en-US" dirty="0" smtClean="0">
                <a:solidFill>
                  <a:schemeClr val="tx1"/>
                </a:solidFill>
              </a:rPr>
              <a:t>诊断协议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A </a:t>
            </a:r>
            <a:r>
              <a:rPr lang="zh-CN" altLang="en-US" dirty="0" smtClean="0">
                <a:solidFill>
                  <a:schemeClr val="tx1"/>
                </a:solidFill>
              </a:rPr>
              <a:t>类电控单元应支持可与测试工具交互的诊断通信协议。诊断通信协议推荐采用基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于</a:t>
            </a:r>
            <a:r>
              <a:rPr lang="en-US" altLang="zh-CN" dirty="0" smtClean="0">
                <a:solidFill>
                  <a:schemeClr val="tx1"/>
                </a:solidFill>
              </a:rPr>
              <a:t>CAN </a:t>
            </a:r>
            <a:r>
              <a:rPr lang="zh-CN" altLang="en-US" dirty="0" smtClean="0">
                <a:solidFill>
                  <a:schemeClr val="tx1"/>
                </a:solidFill>
              </a:rPr>
              <a:t>总线的统一诊断服务（</a:t>
            </a:r>
            <a:r>
              <a:rPr lang="en-US" altLang="zh-CN" dirty="0" err="1" smtClean="0">
                <a:solidFill>
                  <a:schemeClr val="tx1"/>
                </a:solidFill>
              </a:rPr>
              <a:t>UDSonCAN</a:t>
            </a:r>
            <a:r>
              <a:rPr lang="zh-CN" altLang="en-US" dirty="0" smtClean="0">
                <a:solidFill>
                  <a:schemeClr val="tx1"/>
                </a:solidFill>
              </a:rPr>
              <a:t>）。有关基于</a:t>
            </a:r>
            <a:r>
              <a:rPr lang="en-US" altLang="zh-CN" dirty="0" smtClean="0">
                <a:solidFill>
                  <a:schemeClr val="tx1"/>
                </a:solidFill>
              </a:rPr>
              <a:t>CAN </a:t>
            </a:r>
            <a:r>
              <a:rPr lang="zh-CN" altLang="en-US" dirty="0" smtClean="0">
                <a:solidFill>
                  <a:schemeClr val="tx1"/>
                </a:solidFill>
              </a:rPr>
              <a:t>总线的统一诊断服务的要求，参考</a:t>
            </a:r>
            <a:r>
              <a:rPr lang="en-US" altLang="zh-CN" dirty="0" smtClean="0">
                <a:solidFill>
                  <a:schemeClr val="tx1"/>
                </a:solidFill>
              </a:rPr>
              <a:t>ISO15765-3.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B </a:t>
            </a:r>
            <a:r>
              <a:rPr lang="zh-CN" altLang="en-US" dirty="0" smtClean="0">
                <a:solidFill>
                  <a:schemeClr val="tx1"/>
                </a:solidFill>
              </a:rPr>
              <a:t>类电控单元，可以不支持诊断通信协议。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接入</a:t>
            </a:r>
            <a:r>
              <a:rPr lang="en-US" altLang="zh-CN" dirty="0" smtClean="0">
                <a:solidFill>
                  <a:schemeClr val="tx1"/>
                </a:solidFill>
              </a:rPr>
              <a:t>LIN </a:t>
            </a:r>
            <a:r>
              <a:rPr lang="zh-CN" altLang="en-US" dirty="0" smtClean="0">
                <a:solidFill>
                  <a:schemeClr val="tx1"/>
                </a:solidFill>
              </a:rPr>
              <a:t>网络的主节点，应为</a:t>
            </a:r>
            <a:r>
              <a:rPr lang="en-US" altLang="zh-CN" dirty="0" smtClean="0">
                <a:solidFill>
                  <a:schemeClr val="tx1"/>
                </a:solidFill>
              </a:rPr>
              <a:t>A </a:t>
            </a:r>
            <a:r>
              <a:rPr lang="zh-CN" altLang="en-US" dirty="0" smtClean="0">
                <a:solidFill>
                  <a:schemeClr val="tx1"/>
                </a:solidFill>
              </a:rPr>
              <a:t>类电控单元；接入</a:t>
            </a:r>
            <a:r>
              <a:rPr lang="en-US" altLang="zh-CN" dirty="0" smtClean="0">
                <a:solidFill>
                  <a:schemeClr val="tx1"/>
                </a:solidFill>
              </a:rPr>
              <a:t>LIN </a:t>
            </a:r>
            <a:r>
              <a:rPr lang="zh-CN" altLang="en-US" dirty="0" smtClean="0">
                <a:solidFill>
                  <a:schemeClr val="tx1"/>
                </a:solidFill>
              </a:rPr>
              <a:t>网络的从节点，应为</a:t>
            </a:r>
            <a:r>
              <a:rPr lang="en-US" altLang="zh-CN" dirty="0" smtClean="0">
                <a:solidFill>
                  <a:schemeClr val="tx1"/>
                </a:solidFill>
              </a:rPr>
              <a:t>B </a:t>
            </a:r>
            <a:r>
              <a:rPr lang="zh-CN" altLang="en-US" dirty="0" smtClean="0">
                <a:solidFill>
                  <a:schemeClr val="tx1"/>
                </a:solidFill>
              </a:rPr>
              <a:t>类电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控单元。接入多路</a:t>
            </a:r>
            <a:r>
              <a:rPr lang="en-US" altLang="zh-CN" dirty="0" smtClean="0">
                <a:solidFill>
                  <a:schemeClr val="tx1"/>
                </a:solidFill>
              </a:rPr>
              <a:t>CAN </a:t>
            </a:r>
            <a:r>
              <a:rPr lang="zh-CN" altLang="en-US" dirty="0" smtClean="0">
                <a:solidFill>
                  <a:schemeClr val="tx1"/>
                </a:solidFill>
              </a:rPr>
              <a:t>总线的电控单元，应选择速率最高的</a:t>
            </a:r>
            <a:r>
              <a:rPr lang="en-US" altLang="zh-CN" dirty="0" smtClean="0">
                <a:solidFill>
                  <a:schemeClr val="tx1"/>
                </a:solidFill>
              </a:rPr>
              <a:t>CAN </a:t>
            </a:r>
            <a:r>
              <a:rPr lang="zh-CN" altLang="en-US" dirty="0" smtClean="0">
                <a:solidFill>
                  <a:schemeClr val="tx1"/>
                </a:solidFill>
              </a:rPr>
              <a:t>总线进行诊断通信。</a:t>
            </a:r>
            <a:endParaRPr lang="en-US" altLang="zh-CN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但是对于此项目 </a:t>
            </a:r>
            <a:r>
              <a:rPr lang="en-US" altLang="zh-CN" dirty="0" smtClean="0">
                <a:solidFill>
                  <a:schemeClr val="tx1"/>
                </a:solidFill>
              </a:rPr>
              <a:t>, BCM</a:t>
            </a:r>
            <a:r>
              <a:rPr lang="zh-CN" altLang="en-US" dirty="0" smtClean="0">
                <a:solidFill>
                  <a:schemeClr val="tx1"/>
                </a:solidFill>
              </a:rPr>
              <a:t>作为网关</a:t>
            </a:r>
            <a:r>
              <a:rPr lang="en-US" altLang="zh-CN" dirty="0" smtClean="0">
                <a:solidFill>
                  <a:schemeClr val="tx1"/>
                </a:solidFill>
              </a:rPr>
              <a:t>,  </a:t>
            </a:r>
            <a:r>
              <a:rPr lang="zh-CN" altLang="en-US" dirty="0" smtClean="0">
                <a:solidFill>
                  <a:schemeClr val="tx1"/>
                </a:solidFill>
              </a:rPr>
              <a:t>连接了多个网段的</a:t>
            </a:r>
            <a:r>
              <a:rPr lang="en-US" altLang="zh-CN" dirty="0" smtClean="0">
                <a:solidFill>
                  <a:schemeClr val="tx1"/>
                </a:solidFill>
              </a:rPr>
              <a:t>ECU, </a:t>
            </a:r>
            <a:r>
              <a:rPr lang="zh-CN" altLang="en-US" dirty="0" smtClean="0">
                <a:solidFill>
                  <a:schemeClr val="tx1"/>
                </a:solidFill>
              </a:rPr>
              <a:t>外部设备只能通过其中一个网段 对该 </a:t>
            </a:r>
            <a:r>
              <a:rPr lang="en-US" altLang="zh-CN" dirty="0" smtClean="0">
                <a:solidFill>
                  <a:schemeClr val="tx1"/>
                </a:solidFill>
              </a:rPr>
              <a:t>ECU</a:t>
            </a:r>
            <a:r>
              <a:rPr lang="zh-CN" altLang="en-US" dirty="0" smtClean="0">
                <a:solidFill>
                  <a:schemeClr val="tx1"/>
                </a:solidFill>
              </a:rPr>
              <a:t>进行诊断操作</a:t>
            </a:r>
            <a:r>
              <a:rPr lang="en-US" altLang="zh-CN" dirty="0" smtClean="0">
                <a:solidFill>
                  <a:schemeClr val="tx1"/>
                </a:solidFill>
              </a:rPr>
              <a:t>, </a:t>
            </a:r>
            <a:r>
              <a:rPr lang="zh-CN" altLang="en-US" dirty="0" smtClean="0">
                <a:solidFill>
                  <a:schemeClr val="tx1"/>
                </a:solidFill>
              </a:rPr>
              <a:t>推荐选择路由工作量较低的网段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6480175" cy="522287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三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. 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诊断需求定义说明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0472" y="980728"/>
            <a:ext cx="950505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smtClean="0">
                <a:solidFill>
                  <a:schemeClr val="tx1"/>
                </a:solidFill>
              </a:rPr>
              <a:t>3.1 </a:t>
            </a:r>
            <a:r>
              <a:rPr lang="zh-CN" altLang="en-US" sz="1800" dirty="0" smtClean="0">
                <a:solidFill>
                  <a:schemeClr val="tx1"/>
                </a:solidFill>
              </a:rPr>
              <a:t>自诊断需求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zh-CN" altLang="en-US" sz="1800" dirty="0" smtClean="0">
                <a:solidFill>
                  <a:schemeClr val="tx1"/>
                </a:solidFill>
              </a:rPr>
              <a:t>所有</a:t>
            </a:r>
            <a:r>
              <a:rPr lang="en-US" altLang="zh-CN" sz="1800" dirty="0" smtClean="0">
                <a:solidFill>
                  <a:schemeClr val="tx1"/>
                </a:solidFill>
              </a:rPr>
              <a:t>ECU </a:t>
            </a:r>
            <a:r>
              <a:rPr lang="zh-CN" altLang="en-US" sz="1800" dirty="0" smtClean="0">
                <a:solidFill>
                  <a:schemeClr val="tx1"/>
                </a:solidFill>
              </a:rPr>
              <a:t>都应持续地进行故障自诊断，以监控运行状态下的异常事件（错误）。故障自诊断包括两种：初始化阶段自诊断及持续运行时的自诊断。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3.2 </a:t>
            </a:r>
            <a:r>
              <a:rPr lang="zh-CN" altLang="en-US" sz="1800" dirty="0" smtClean="0">
                <a:solidFill>
                  <a:schemeClr val="tx1"/>
                </a:solidFill>
              </a:rPr>
              <a:t>故障自诊断范围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zh-CN" altLang="en-US" sz="1800" dirty="0" smtClean="0">
                <a:solidFill>
                  <a:schemeClr val="tx1"/>
                </a:solidFill>
              </a:rPr>
              <a:t>故障自诊断的范围，应包含但不限于如下所列内容：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ECU </a:t>
            </a:r>
            <a:r>
              <a:rPr lang="zh-CN" altLang="en-US" sz="1800" dirty="0" smtClean="0">
                <a:solidFill>
                  <a:schemeClr val="tx1"/>
                </a:solidFill>
              </a:rPr>
              <a:t>内部异常情况；  网络通信异常情况；</a:t>
            </a:r>
            <a:r>
              <a:rPr lang="en-US" altLang="zh-CN" sz="1800" dirty="0" smtClean="0">
                <a:solidFill>
                  <a:schemeClr val="tx1"/>
                </a:solidFill>
              </a:rPr>
              <a:t>	</a:t>
            </a:r>
            <a:r>
              <a:rPr lang="zh-CN" altLang="en-US" sz="1800" dirty="0" smtClean="0">
                <a:solidFill>
                  <a:schemeClr val="tx1"/>
                </a:solidFill>
              </a:rPr>
              <a:t>输入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输出线路的开路或短路情况；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zh-CN" altLang="en-US" sz="1800" dirty="0" smtClean="0">
                <a:solidFill>
                  <a:schemeClr val="tx1"/>
                </a:solidFill>
              </a:rPr>
              <a:t>超出线路正常运行范围的错误信号；</a:t>
            </a:r>
            <a:r>
              <a:rPr lang="en-US" altLang="zh-CN" sz="1800" dirty="0" smtClean="0">
                <a:solidFill>
                  <a:schemeClr val="tx1"/>
                </a:solidFill>
              </a:rPr>
              <a:t>	</a:t>
            </a:r>
            <a:r>
              <a:rPr lang="zh-CN" altLang="en-US" sz="1800" dirty="0" smtClean="0">
                <a:solidFill>
                  <a:schemeClr val="tx1"/>
                </a:solidFill>
              </a:rPr>
              <a:t>迫使系统以失效安全模式运行的情况。 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3.3 </a:t>
            </a:r>
            <a:r>
              <a:rPr lang="zh-CN" altLang="en-US" sz="1800" dirty="0" smtClean="0">
                <a:solidFill>
                  <a:schemeClr val="tx1"/>
                </a:solidFill>
              </a:rPr>
              <a:t>故障记录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zh-CN" altLang="en-US" sz="1800" dirty="0" smtClean="0">
                <a:solidFill>
                  <a:schemeClr val="tx1"/>
                </a:solidFill>
              </a:rPr>
              <a:t>当</a:t>
            </a:r>
            <a:r>
              <a:rPr lang="en-US" altLang="zh-CN" sz="1800" dirty="0" smtClean="0">
                <a:solidFill>
                  <a:schemeClr val="tx1"/>
                </a:solidFill>
              </a:rPr>
              <a:t>ECU </a:t>
            </a:r>
            <a:r>
              <a:rPr lang="zh-CN" altLang="en-US" sz="1800" dirty="0" smtClean="0">
                <a:solidFill>
                  <a:schemeClr val="tx1"/>
                </a:solidFill>
              </a:rPr>
              <a:t>检测到一个故障时，其将在存储器中存储对应的一个代码，此代码被称为诊断故障代码。除诊断故障代码外，</a:t>
            </a:r>
            <a:r>
              <a:rPr lang="en-US" altLang="zh-CN" sz="1800" dirty="0" smtClean="0">
                <a:solidFill>
                  <a:schemeClr val="tx1"/>
                </a:solidFill>
              </a:rPr>
              <a:t>ECU </a:t>
            </a:r>
            <a:r>
              <a:rPr lang="zh-CN" altLang="en-US" sz="1800" dirty="0" smtClean="0">
                <a:solidFill>
                  <a:schemeClr val="tx1"/>
                </a:solidFill>
              </a:rPr>
              <a:t>还可能存储与此故障相关的故障状态、快照信息及扩展信息。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3.4  </a:t>
            </a:r>
            <a:r>
              <a:rPr lang="zh-CN" altLang="en-US" sz="1800" dirty="0" smtClean="0">
                <a:solidFill>
                  <a:schemeClr val="tx1"/>
                </a:solidFill>
              </a:rPr>
              <a:t>故障类型</a:t>
            </a:r>
            <a:r>
              <a:rPr lang="en-US" altLang="zh-CN" sz="1800" dirty="0" smtClean="0">
                <a:solidFill>
                  <a:schemeClr val="tx1"/>
                </a:solidFill>
              </a:rPr>
              <a:t>-</a:t>
            </a:r>
            <a:r>
              <a:rPr lang="zh-CN" altLang="en-US" sz="1800" dirty="0" smtClean="0">
                <a:solidFill>
                  <a:schemeClr val="tx1"/>
                </a:solidFill>
              </a:rPr>
              <a:t>故障代码格式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r>
              <a:rPr lang="zh-CN" altLang="en-US" sz="1800" dirty="0" smtClean="0">
                <a:solidFill>
                  <a:schemeClr val="tx1"/>
                </a:solidFill>
              </a:rPr>
              <a:t>诊断故障代码由</a:t>
            </a:r>
            <a:r>
              <a:rPr lang="en-US" altLang="zh-CN" sz="1800" dirty="0" smtClean="0">
                <a:solidFill>
                  <a:schemeClr val="tx1"/>
                </a:solidFill>
              </a:rPr>
              <a:t>3 </a:t>
            </a:r>
            <a:r>
              <a:rPr lang="zh-CN" altLang="en-US" sz="1800" dirty="0" smtClean="0">
                <a:solidFill>
                  <a:schemeClr val="tx1"/>
                </a:solidFill>
              </a:rPr>
              <a:t>个字节组成：故障代码高字节、故障代码低字节及故障代码失效类型。前两个字节代表发生故障的对象，而第三个字节代表故障失效类型信息。有关故障代码组成的详细定义，请参考</a:t>
            </a:r>
            <a:r>
              <a:rPr lang="en-US" altLang="zh-CN" sz="1800" dirty="0" smtClean="0">
                <a:solidFill>
                  <a:schemeClr val="tx1"/>
                </a:solidFill>
              </a:rPr>
              <a:t>ISO15031-6 .</a:t>
            </a:r>
            <a:r>
              <a:rPr lang="zh-CN" altLang="en-US" sz="1800" dirty="0" smtClean="0">
                <a:solidFill>
                  <a:schemeClr val="tx1"/>
                </a:solidFill>
              </a:rPr>
              <a:t>所有法规相关的故障代码必须符合此标准的定义。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3.5 </a:t>
            </a:r>
            <a:r>
              <a:rPr lang="zh-CN" altLang="en-US" sz="1800" dirty="0" smtClean="0">
                <a:solidFill>
                  <a:schemeClr val="tx1"/>
                </a:solidFill>
              </a:rPr>
              <a:t>故障自恢复策略</a:t>
            </a:r>
            <a:r>
              <a:rPr lang="en-US" altLang="zh-CN" sz="1800" dirty="0" smtClean="0">
                <a:solidFill>
                  <a:schemeClr val="tx1"/>
                </a:solidFill>
              </a:rPr>
              <a:t>, </a:t>
            </a:r>
            <a:r>
              <a:rPr lang="zh-CN" altLang="en-US" sz="1800" dirty="0" smtClean="0">
                <a:solidFill>
                  <a:schemeClr val="tx1"/>
                </a:solidFill>
              </a:rPr>
              <a:t>具体的故障自恢复策略应在</a:t>
            </a:r>
            <a:r>
              <a:rPr lang="en-US" altLang="zh-CN" sz="1800" dirty="0" smtClean="0">
                <a:solidFill>
                  <a:schemeClr val="tx1"/>
                </a:solidFill>
              </a:rPr>
              <a:t>ECU</a:t>
            </a:r>
            <a:r>
              <a:rPr lang="zh-CN" altLang="en-US" sz="1800" dirty="0" smtClean="0">
                <a:solidFill>
                  <a:schemeClr val="tx1"/>
                </a:solidFill>
              </a:rPr>
              <a:t>的诊断文件描述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3.6  </a:t>
            </a:r>
            <a:r>
              <a:rPr lang="zh-CN" altLang="en-US" sz="1800" dirty="0" smtClean="0">
                <a:solidFill>
                  <a:schemeClr val="tx1"/>
                </a:solidFill>
              </a:rPr>
              <a:t>当检测到某个可能引起危险的故障时</a:t>
            </a:r>
            <a:r>
              <a:rPr lang="en-US" altLang="zh-CN" sz="1800" dirty="0" smtClean="0">
                <a:solidFill>
                  <a:schemeClr val="tx1"/>
                </a:solidFill>
              </a:rPr>
              <a:t>, ECU</a:t>
            </a:r>
            <a:r>
              <a:rPr lang="zh-CN" altLang="en-US" sz="1800" dirty="0" smtClean="0">
                <a:solidFill>
                  <a:schemeClr val="tx1"/>
                </a:solidFill>
              </a:rPr>
              <a:t>必须采取必要的措施以保证部件及整车安全</a:t>
            </a:r>
            <a:r>
              <a:rPr lang="en-US" altLang="zh-CN" sz="1800" dirty="0" smtClean="0">
                <a:solidFill>
                  <a:schemeClr val="tx1"/>
                </a:solidFill>
              </a:rPr>
              <a:t>,</a:t>
            </a:r>
            <a:r>
              <a:rPr lang="zh-CN" altLang="en-US" sz="1800" dirty="0" smtClean="0">
                <a:solidFill>
                  <a:schemeClr val="tx1"/>
                </a:solidFill>
              </a:rPr>
              <a:t>具体采取的措施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危险警报声光提示等 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及其激活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关闭准则 需在</a:t>
            </a:r>
            <a:r>
              <a:rPr lang="en-US" altLang="zh-CN" sz="1800" dirty="0" smtClean="0">
                <a:solidFill>
                  <a:schemeClr val="tx1"/>
                </a:solidFill>
              </a:rPr>
              <a:t>ECU</a:t>
            </a:r>
            <a:r>
              <a:rPr lang="zh-CN" altLang="en-US" sz="1800" dirty="0" smtClean="0">
                <a:solidFill>
                  <a:schemeClr val="tx1"/>
                </a:solidFill>
              </a:rPr>
              <a:t>的诊断文件中描述</a:t>
            </a:r>
            <a:r>
              <a:rPr lang="en-US" altLang="zh-CN" sz="1800" dirty="0" smtClean="0">
                <a:solidFill>
                  <a:schemeClr val="tx1"/>
                </a:solidFill>
              </a:rPr>
              <a:t>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6480175" cy="522287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285875" indent="-371475"/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3.7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支持的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UDS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服务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0468" y="908721"/>
          <a:ext cx="9505064" cy="55446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52332"/>
                <a:gridCol w="432048"/>
                <a:gridCol w="1139421"/>
                <a:gridCol w="711609"/>
                <a:gridCol w="711609"/>
                <a:gridCol w="711609"/>
                <a:gridCol w="711609"/>
                <a:gridCol w="622655"/>
                <a:gridCol w="800563"/>
                <a:gridCol w="711609"/>
              </a:tblGrid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DIAGNOSTIC SERVICE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session@APPLICATION SOFTWARE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 session@BOOTLOADER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1704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SERVICE NAME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SID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DEFAULT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EXTENDED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DEFAULT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PROGRAMMING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5401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PHYS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FUNC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PHYS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FUNC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PHYS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FUNC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PHYS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FUNC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DiagnosticSessionControl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$10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EcuReset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$11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SecurityAccess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$27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CommunicationControl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$28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TesterPresent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$3E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ControlDTCSetting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$85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/>
                        <a:t>ReadDataByIdentifier</a:t>
                      </a:r>
                      <a:r>
                        <a:rPr lang="en-US" sz="1400" u="none" strike="noStrike" dirty="0"/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$22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WriteDataByIdentifier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$2E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ClearDiagnosticInformation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$14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ReadDTCInformation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$19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InputOutputControlByIdentifier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$2F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RoutineControl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$31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√ 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RequestDownload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$34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 RequestUpload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$35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TransferData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$36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6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RequestTransferExit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$37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/>
                        <a:t>× 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√ 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/>
                        <a:t>× 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9" marR="8829" marT="88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6480175" cy="522287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285875" indent="-371475"/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3.8 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支持的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DTC MASK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0472" y="980730"/>
          <a:ext cx="9505056" cy="5472608"/>
        </p:xfrm>
        <a:graphic>
          <a:graphicData uri="http://schemas.openxmlformats.org/drawingml/2006/table">
            <a:tbl>
              <a:tblPr/>
              <a:tblGrid>
                <a:gridCol w="936104"/>
                <a:gridCol w="3714689"/>
                <a:gridCol w="2150991"/>
                <a:gridCol w="1424304"/>
                <a:gridCol w="1278968"/>
              </a:tblGrid>
              <a:tr h="8640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latin typeface="Arial" panose="020B0604020202020204"/>
                        </a:rPr>
                        <a:t>Bit Field</a:t>
                      </a:r>
                      <a:br>
                        <a:rPr lang="en-US" sz="1600" b="1" i="0" u="none" strike="noStrike" dirty="0">
                          <a:latin typeface="Arial" panose="020B0604020202020204"/>
                        </a:rPr>
                      </a:br>
                      <a:r>
                        <a:rPr lang="zh-CN" altLang="en-US" sz="1600" b="1" i="0" u="none" strike="noStrike" dirty="0">
                          <a:latin typeface="Arial" panose="020B0604020202020204"/>
                        </a:rPr>
                        <a:t>位场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latin typeface="Arial" panose="020B0604020202020204"/>
                        </a:rPr>
                        <a:t>Bit Description</a:t>
                      </a:r>
                      <a:br>
                        <a:rPr lang="en-US" sz="1600" b="1" i="0" u="none" strike="noStrike" dirty="0">
                          <a:latin typeface="Arial" panose="020B0604020202020204"/>
                        </a:rPr>
                      </a:br>
                      <a:r>
                        <a:rPr lang="zh-CN" altLang="en-US" sz="1600" b="1" i="0" u="none" strike="noStrike" dirty="0">
                          <a:latin typeface="宋体" panose="02010600030101010101" pitchFamily="2" charset="-122"/>
                        </a:rPr>
                        <a:t>描述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latin typeface="Arial" panose="020B0604020202020204"/>
                        </a:rPr>
                        <a:t>Bit State Definition</a:t>
                      </a:r>
                      <a:br>
                        <a:rPr lang="en-US" sz="1600" b="1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1" i="0" u="none" strike="noStrike">
                          <a:latin typeface="Arial" panose="020B0604020202020204"/>
                        </a:rPr>
                        <a:t>位状态定义</a:t>
                      </a:r>
                      <a:endParaRPr lang="zh-CN" altLang="en-US" sz="1600" b="1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latin typeface="Arial" panose="020B0604020202020204"/>
                        </a:rPr>
                        <a:t>Supported by ECU</a:t>
                      </a:r>
                      <a:r>
                        <a:rPr lang="en-US" sz="1600" b="1" i="0" u="none" strike="noStrike" baseline="30000">
                          <a:latin typeface="Arial" panose="020B0604020202020204"/>
                        </a:rPr>
                        <a:t>1</a:t>
                      </a:r>
                      <a:br>
                        <a:rPr lang="en-US" sz="1600" b="1" i="0" u="none" strike="noStrike">
                          <a:latin typeface="Arial" panose="020B0604020202020204"/>
                        </a:rPr>
                      </a:br>
                      <a:r>
                        <a:rPr lang="en-US" sz="1600" b="1" i="0" u="none" strike="noStrike">
                          <a:latin typeface="Arial" panose="020B0604020202020204"/>
                        </a:rPr>
                        <a:t>ECU</a:t>
                      </a:r>
                      <a:r>
                        <a:rPr lang="en-US" sz="1600" b="1" i="0" u="none" strike="noStrike">
                          <a:latin typeface="宋体" panose="02010600030101010101" pitchFamily="2" charset="-122"/>
                        </a:rPr>
                        <a:t>支持</a:t>
                      </a:r>
                      <a:r>
                        <a:rPr lang="en-US" sz="1600" b="1" i="0" u="none" strike="noStrike" baseline="30000">
                          <a:latin typeface="Arial" panose="020B0604020202020204"/>
                        </a:rPr>
                        <a:t>1</a:t>
                      </a:r>
                      <a:endParaRPr lang="en-US" sz="1600" b="1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latin typeface="Arial" panose="020B0604020202020204"/>
                        </a:rPr>
                        <a:t>Remarks</a:t>
                      </a:r>
                      <a:br>
                        <a:rPr lang="en-US" sz="1600" b="1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1" i="0" u="none" strike="noStrike">
                          <a:latin typeface="Arial" panose="020B0604020202020204"/>
                        </a:rPr>
                        <a:t>备注</a:t>
                      </a:r>
                      <a:endParaRPr lang="zh-CN" altLang="en-US" sz="1600" b="1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0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Test failed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测试失效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3F066E"/>
                          </a:solidFill>
                          <a:latin typeface="Arial" panose="020B0604020202020204"/>
                        </a:rPr>
                        <a:t>M</a:t>
                      </a:r>
                      <a:endParaRPr lang="en-US" sz="1600" b="1" i="0" u="none" strike="noStrike">
                        <a:solidFill>
                          <a:srgbClr val="3F066E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1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Test failed this operation cycle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本运行周期测试失效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969696"/>
                          </a:solidFill>
                          <a:latin typeface="Arial" panose="020B0604020202020204"/>
                        </a:rPr>
                        <a:t>U</a:t>
                      </a:r>
                      <a:r>
                        <a:rPr lang="zh-CN" altLang="en-US" sz="1600" b="0" i="0" u="none" strike="noStrike" dirty="0">
                          <a:solidFill>
                            <a:srgbClr val="969696"/>
                          </a:solidFill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969696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2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Pending DTC</a:t>
                      </a:r>
                      <a:br>
                        <a:rPr lang="en-US" sz="1600" b="0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>
                          <a:latin typeface="宋体" panose="02010600030101010101" pitchFamily="2" charset="-122"/>
                        </a:rPr>
                        <a:t>等待</a:t>
                      </a:r>
                      <a:r>
                        <a:rPr lang="en-US" sz="1600" b="0" i="0" u="none" strike="noStrike">
                          <a:latin typeface="Arial" panose="020B0604020202020204"/>
                        </a:rPr>
                        <a:t>DTC</a:t>
                      </a:r>
                      <a:endParaRPr 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3F066E"/>
                          </a:solidFill>
                          <a:latin typeface="Arial" panose="020B0604020202020204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3F066E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3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Confirmed DTC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确认</a:t>
                      </a: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DTC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3F066E"/>
                          </a:solidFill>
                          <a:latin typeface="Arial" panose="020B0604020202020204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3F066E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4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Test not completed since last clear</a:t>
                      </a:r>
                      <a:br>
                        <a:rPr lang="en-US" sz="1600" b="0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>
                          <a:latin typeface="Arial" panose="020B0604020202020204"/>
                        </a:rPr>
                        <a:t>上次清零后测试未完成</a:t>
                      </a:r>
                      <a:endParaRPr lang="zh-CN" alt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969696"/>
                          </a:solidFill>
                          <a:latin typeface="+mn-lt"/>
                        </a:rPr>
                        <a:t>U</a:t>
                      </a:r>
                      <a:endParaRPr lang="zh-CN" altLang="en-US" sz="1600" b="0" i="0" u="none" strike="noStrike" dirty="0">
                        <a:solidFill>
                          <a:srgbClr val="969696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5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Test failed since last clear</a:t>
                      </a:r>
                      <a:br>
                        <a:rPr lang="en-US" sz="1600" b="0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>
                          <a:latin typeface="Arial" panose="020B0604020202020204"/>
                        </a:rPr>
                        <a:t>上次清零后测试失效</a:t>
                      </a:r>
                      <a:endParaRPr lang="zh-CN" alt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969696"/>
                          </a:solidFill>
                          <a:latin typeface="+mn-lt"/>
                        </a:rPr>
                        <a:t>U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6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Test not completed this operation cycle</a:t>
                      </a:r>
                      <a:br>
                        <a:rPr lang="en-US" sz="1600" b="0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>
                          <a:latin typeface="Arial" panose="020B0604020202020204"/>
                        </a:rPr>
                        <a:t>本运行周期测试未完成</a:t>
                      </a:r>
                      <a:endParaRPr lang="zh-CN" alt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969696"/>
                          </a:solidFill>
                          <a:latin typeface="+mn-lt"/>
                        </a:rPr>
                        <a:t>U</a:t>
                      </a:r>
                      <a:endParaRPr lang="zh-CN" altLang="en-US" sz="1600" b="0" i="0" u="none" strike="noStrike" dirty="0">
                        <a:solidFill>
                          <a:srgbClr val="969696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7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Warning indicator requested</a:t>
                      </a:r>
                      <a:br>
                        <a:rPr lang="en-US" sz="1600" b="0" i="0" u="none" strike="noStrike">
                          <a:latin typeface="Arial" panose="020B0604020202020204"/>
                        </a:rPr>
                      </a:br>
                      <a:r>
                        <a:rPr lang="zh-CN" altLang="en-US" sz="1600" b="0" i="0" u="none" strike="noStrike">
                          <a:latin typeface="Arial" panose="020B0604020202020204"/>
                        </a:rPr>
                        <a:t>警告指示位请求</a:t>
                      </a:r>
                      <a:endParaRPr lang="zh-CN" alt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0=False</a:t>
                      </a:r>
                      <a:br>
                        <a:rPr lang="en-US" sz="1600" b="0" i="0" u="none" strike="noStrike" dirty="0">
                          <a:latin typeface="Arial" panose="020B0604020202020204"/>
                        </a:rPr>
                      </a:br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1=True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969696"/>
                          </a:solidFill>
                          <a:latin typeface="+mn-lt"/>
                        </a:rPr>
                        <a:t>U</a:t>
                      </a:r>
                      <a:endParaRPr lang="zh-CN" altLang="en-US" sz="1600" b="0" i="0" u="none" strike="noStrike" dirty="0">
                        <a:solidFill>
                          <a:srgbClr val="969696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latin typeface="Arial" panose="020B0604020202020204"/>
                        </a:rPr>
                        <a:t>　</a:t>
                      </a:r>
                      <a:endParaRPr lang="zh-CN" alt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1568624" y="188913"/>
            <a:ext cx="7488831" cy="892552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四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-1</a:t>
            </a:r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可诊断的功能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-</a:t>
            </a:r>
            <a:r>
              <a:rPr lang="en-US" altLang="zh-CN" sz="280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ECU </a:t>
            </a:r>
            <a:r>
              <a:rPr lang="zh-CN" altLang="en-US" sz="280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内部异常情况</a:t>
            </a:r>
            <a:endParaRPr lang="en-US" altLang="zh-CN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285875" indent="-371475"/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8464" y="1124744"/>
          <a:ext cx="9505055" cy="2804817"/>
        </p:xfrm>
        <a:graphic>
          <a:graphicData uri="http://schemas.openxmlformats.org/drawingml/2006/table">
            <a:tbl>
              <a:tblPr/>
              <a:tblGrid>
                <a:gridCol w="432048"/>
                <a:gridCol w="3988795"/>
                <a:gridCol w="2542106"/>
                <a:gridCol w="2542106"/>
              </a:tblGrid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№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诊断失效功能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Subtype Description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DTC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EEPROM</a:t>
                      </a:r>
                      <a:r>
                        <a:rPr lang="zh-CN" altLang="en-US" dirty="0" smtClean="0"/>
                        <a:t>读写失效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0x900146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ECU</a:t>
                      </a:r>
                      <a:r>
                        <a:rPr lang="zh-CN" altLang="en-US" dirty="0" smtClean="0"/>
                        <a:t> </a:t>
                      </a:r>
                      <a:r>
                        <a:rPr lang="en-US" altLang="zh-CN" dirty="0" smtClean="0"/>
                        <a:t>PIN</a:t>
                      </a:r>
                      <a:r>
                        <a:rPr lang="zh-CN" altLang="en-US" dirty="0" smtClean="0"/>
                        <a:t>未编程</a:t>
                      </a:r>
                      <a:endParaRPr lang="zh-CN" altLang="en-US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0x900251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板上继电器对电源短路或者开路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0x90??15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板上继电器对地短路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0x90??11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雨量传感器内部故障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0x90B096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光传感器内部故障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0x90B196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1856656" y="188913"/>
            <a:ext cx="7848871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四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-2:</a:t>
            </a:r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输入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输出线路的开路或短路情况</a:t>
            </a:r>
            <a:endParaRPr lang="zh-CN" altLang="en-US" sz="2800" dirty="0" smtClean="0">
              <a:solidFill>
                <a:schemeClr val="tx1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464" y="1052736"/>
          <a:ext cx="9381306" cy="5051469"/>
        </p:xfrm>
        <a:graphic>
          <a:graphicData uri="http://schemas.openxmlformats.org/drawingml/2006/table">
            <a:tbl>
              <a:tblPr/>
              <a:tblGrid>
                <a:gridCol w="323850"/>
                <a:gridCol w="4284662"/>
                <a:gridCol w="2844130"/>
                <a:gridCol w="1928664"/>
              </a:tblGrid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№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诊断失效功能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Subtype Description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Failure Type Byte</a:t>
                      </a:r>
                      <a:endParaRPr lang="en-US" altLang="zh-CN" dirty="0" smtClean="0"/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DTC Failure Subtype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组合开关灯光手柄开关故障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0x900808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组合开关雨刮手柄开关故障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0x900908</a:t>
                      </a:r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其它轻触开关卡滞故障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0x900?08</a:t>
                      </a:r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外置继电器对电源短路或者开路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0x90??11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外置继电器对地短路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0x90??96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外置继电器端子脱落或者继电器内部故障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0x90??04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灯泡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电机负载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损坏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0x900?01</a:t>
                      </a:r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灯泡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电机负载开路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0x900?13</a:t>
                      </a:r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灯泡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电机负载对地短路故障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0x900?12</a:t>
                      </a:r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6480175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algn="ctr" fontAlgn="ctr"/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四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-3:</a:t>
            </a:r>
            <a:r>
              <a:rPr lang="zh-CN" altLang="en-US" sz="2800" dirty="0" smtClean="0">
                <a:solidFill>
                  <a:schemeClr val="tx1"/>
                </a:solidFill>
              </a:rPr>
              <a:t>超出线路正常运行范围的错误信号</a:t>
            </a:r>
            <a:endParaRPr lang="en-US" altLang="zh-CN" sz="28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464" y="980728"/>
          <a:ext cx="9505055" cy="3928143"/>
        </p:xfrm>
        <a:graphic>
          <a:graphicData uri="http://schemas.openxmlformats.org/drawingml/2006/table">
            <a:tbl>
              <a:tblPr/>
              <a:tblGrid>
                <a:gridCol w="288032"/>
                <a:gridCol w="3528392"/>
                <a:gridCol w="3146525"/>
                <a:gridCol w="2542106"/>
              </a:tblGrid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№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诊断失效功能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Subtype Description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Failure Type Byte</a:t>
                      </a:r>
                      <a:endParaRPr lang="en-US" altLang="zh-CN" dirty="0" smtClean="0"/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DTC Failure Subtype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电池电压过低</a:t>
                      </a:r>
                      <a:r>
                        <a:rPr lang="en-US" altLang="zh-CN" dirty="0" smtClean="0"/>
                        <a:t>(&lt;7v)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0X900516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dirty="0" smtClean="0"/>
                        <a:t>电池电压过高</a:t>
                      </a:r>
                      <a:r>
                        <a:rPr lang="en-US" altLang="zh-CN" dirty="0" smtClean="0"/>
                        <a:t>(&gt;17v)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0X900517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7200899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四</a:t>
            </a:r>
            <a:r>
              <a:rPr lang="en-US" altLang="zh-CN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-4 </a:t>
            </a:r>
            <a:r>
              <a:rPr lang="zh-CN" altLang="en-US" sz="2800" dirty="0" smtClean="0">
                <a:solidFill>
                  <a:schemeClr val="tx1"/>
                </a:solidFill>
                <a:ea typeface="黑体" panose="02010609060101010101" pitchFamily="2" charset="-122"/>
              </a:rPr>
              <a:t>网络通信异常情况</a:t>
            </a:r>
            <a:endParaRPr lang="zh-CN" altLang="en-US" sz="2800" dirty="0" smtClean="0">
              <a:solidFill>
                <a:schemeClr val="tx1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464" y="980728"/>
          <a:ext cx="9505055" cy="3928143"/>
        </p:xfrm>
        <a:graphic>
          <a:graphicData uri="http://schemas.openxmlformats.org/drawingml/2006/table">
            <a:tbl>
              <a:tblPr/>
              <a:tblGrid>
                <a:gridCol w="447599"/>
                <a:gridCol w="5097017"/>
                <a:gridCol w="3024336"/>
                <a:gridCol w="936103"/>
              </a:tblGrid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№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诊断失效功能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Subtype Description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Failure Type Byte</a:t>
                      </a:r>
                      <a:endParaRPr lang="en-US" altLang="zh-CN" dirty="0" smtClean="0"/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DTC Failure Subtype</a:t>
                      </a: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LIN bus off </a:t>
                      </a:r>
                      <a:r>
                        <a:rPr lang="en-US" dirty="0" err="1" smtClean="0"/>
                        <a:t>failure</a:t>
                      </a:r>
                      <a:r>
                        <a:rPr lang="en-US" altLang="zh-CN" dirty="0" err="1" smtClean="0"/>
                        <a:t>LIN</a:t>
                      </a:r>
                      <a:r>
                        <a:rPr lang="zh-CN" altLang="en-US" dirty="0" smtClean="0"/>
                        <a:t>总线通信故障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0xC01?88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Lost communication with ECU</a:t>
                      </a:r>
                      <a:r>
                        <a:rPr lang="zh-CN" altLang="en-US" dirty="0" smtClean="0"/>
                        <a:t>与某</a:t>
                      </a:r>
                      <a:r>
                        <a:rPr lang="en-US" altLang="zh-CN" dirty="0" smtClean="0"/>
                        <a:t>ECU</a:t>
                      </a:r>
                      <a:r>
                        <a:rPr lang="zh-CN" altLang="en-US" dirty="0" smtClean="0"/>
                        <a:t>失去通信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0xC02?87</a:t>
                      </a:r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CAN NM  </a:t>
                      </a:r>
                      <a:r>
                        <a:rPr lang="en-US" dirty="0" err="1" smtClean="0"/>
                        <a:t>limphome</a:t>
                      </a:r>
                      <a:r>
                        <a:rPr lang="en-US" dirty="0" smtClean="0"/>
                        <a:t> indication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0xC03087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dirty="0" smtClean="0"/>
                        <a:t>CAN</a:t>
                      </a:r>
                      <a:r>
                        <a:rPr lang="zh-CN" altLang="en-US" dirty="0" smtClean="0"/>
                        <a:t>总线通信故障</a:t>
                      </a:r>
                      <a:r>
                        <a:rPr lang="en-US" dirty="0" smtClean="0"/>
                        <a:t>CAN bus off failure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0xC04088</a:t>
                      </a:r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dirty="0" smtClean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442">
                <a:tc>
                  <a:txBody>
                    <a:bodyPr/>
                    <a:lstStyle/>
                    <a:p>
                      <a:pPr algn="ctr" fontAlgn="ctr"/>
                      <a:endParaRPr 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/>
          <p:nvPr/>
        </p:nvSpPr>
        <p:spPr>
          <a:xfrm>
            <a:off x="350838" y="6545263"/>
            <a:ext cx="2438400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B39446C3-0E8F-491C-B328-B6038EC9876B}" type="datetime1">
              <a:rPr lang="zh-CN" altLang="en-US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3"/>
          <p:cNvSpPr txBox="1"/>
          <p:nvPr/>
        </p:nvSpPr>
        <p:spPr>
          <a:xfrm>
            <a:off x="7137400" y="6545263"/>
            <a:ext cx="2455863" cy="26828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2B6ED3DF-FFC5-4D4E-97D9-F6A2D0678E69}" type="slidenum">
              <a:rPr lang="en-US" altLang="zh-CN" sz="160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</a:fld>
            <a:endParaRPr lang="en-US" altLang="zh-CN" sz="1600" dirty="0">
              <a:solidFill>
                <a:schemeClr val="bg1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59001" name="Rectangle 11"/>
          <p:cNvSpPr>
            <a:spLocks noChangeArrowheads="1"/>
          </p:cNvSpPr>
          <p:nvPr/>
        </p:nvSpPr>
        <p:spPr bwMode="auto">
          <a:xfrm>
            <a:off x="2360613" y="188913"/>
            <a:ext cx="6984875" cy="52322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285875" indent="-371475"/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五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. Network Layer(ISO15765-2)</a:t>
            </a:r>
            <a:r>
              <a:rPr lang="zh-CN" altLang="en-US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参数</a:t>
            </a:r>
            <a:r>
              <a:rPr lang="en-US" altLang="zh-CN" sz="2800" dirty="0" smtClean="0">
                <a:solidFill>
                  <a:srgbClr val="003366"/>
                </a:solidFill>
                <a:ea typeface="黑体" panose="02010609060101010101" pitchFamily="2" charset="-122"/>
              </a:rPr>
              <a:t> </a:t>
            </a:r>
            <a:endParaRPr lang="zh-CN" altLang="en-US" sz="2400" dirty="0">
              <a:solidFill>
                <a:srgbClr val="003366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0472" y="1484784"/>
          <a:ext cx="9505056" cy="1212801"/>
        </p:xfrm>
        <a:graphic>
          <a:graphicData uri="http://schemas.openxmlformats.org/drawingml/2006/table">
            <a:tbl>
              <a:tblPr/>
              <a:tblGrid>
                <a:gridCol w="2376264"/>
                <a:gridCol w="2088232"/>
                <a:gridCol w="2922116"/>
                <a:gridCol w="2118444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latin typeface="Arial" panose="020B0604020202020204"/>
                        </a:rPr>
                        <a:t>Symbol </a:t>
                      </a:r>
                      <a:r>
                        <a:rPr lang="zh-CN" altLang="en-US" sz="1600" b="1" i="0" u="none" strike="noStrike" dirty="0" smtClean="0">
                          <a:latin typeface="Arial" panose="020B0604020202020204"/>
                        </a:rPr>
                        <a:t>符号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latin typeface="Arial" panose="020B0604020202020204"/>
                        </a:rPr>
                        <a:t>Min </a:t>
                      </a:r>
                      <a:r>
                        <a:rPr lang="zh-CN" altLang="en-US" sz="1600" b="1" i="0" u="none" strike="noStrike" dirty="0" smtClean="0">
                          <a:latin typeface="宋体" panose="02010600030101010101" pitchFamily="2" charset="-122"/>
                        </a:rPr>
                        <a:t>最小值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latin typeface="Arial" panose="020B0604020202020204"/>
                        </a:rPr>
                        <a:t>Max/Timeout </a:t>
                      </a:r>
                      <a:r>
                        <a:rPr lang="zh-CN" altLang="en-US" sz="1600" b="1" i="0" u="none" strike="noStrike" dirty="0" smtClean="0">
                          <a:latin typeface="Arial" panose="020B0604020202020204"/>
                        </a:rPr>
                        <a:t>最大</a:t>
                      </a:r>
                      <a:r>
                        <a:rPr lang="zh-CN" altLang="en-US" sz="1600" b="1" i="0" u="none" strike="noStrike" dirty="0">
                          <a:latin typeface="Arial" panose="020B0604020202020204"/>
                        </a:rPr>
                        <a:t>值</a:t>
                      </a:r>
                      <a:r>
                        <a:rPr lang="en-US" altLang="zh-CN" sz="1600" b="1" i="0" u="none" strike="noStrike" dirty="0">
                          <a:latin typeface="Arial" panose="020B0604020202020204"/>
                        </a:rPr>
                        <a:t>/</a:t>
                      </a:r>
                      <a:r>
                        <a:rPr lang="zh-CN" altLang="en-US" sz="1600" b="1" i="0" u="none" strike="noStrike" dirty="0">
                          <a:latin typeface="Arial" panose="020B0604020202020204"/>
                        </a:rPr>
                        <a:t>超时时间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latin typeface="Arial" panose="020B0604020202020204"/>
                        </a:rPr>
                        <a:t>Unit </a:t>
                      </a:r>
                      <a:r>
                        <a:rPr lang="zh-CN" altLang="en-US" sz="1600" b="1" i="0" u="none" strike="noStrike" dirty="0" smtClean="0">
                          <a:latin typeface="Arial" panose="020B0604020202020204"/>
                        </a:rPr>
                        <a:t>单位</a:t>
                      </a:r>
                      <a:endParaRPr lang="zh-CN" altLang="en-US" sz="1600" b="1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32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smtClean="0">
                          <a:latin typeface="Arial" panose="020B0604020202020204"/>
                        </a:rPr>
                        <a:t>P2</a:t>
                      </a:r>
                      <a:r>
                        <a:rPr lang="en-US" sz="1600" b="0" i="0" u="none" strike="noStrike" baseline="-25000" smtClean="0">
                          <a:latin typeface="Arial" panose="020B0604020202020204"/>
                        </a:rPr>
                        <a:t>Server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latin typeface="Arial" panose="020B0604020202020204"/>
                        </a:rPr>
                        <a:t>0</a:t>
                      </a:r>
                      <a:endParaRPr lang="en-US" altLang="zh-CN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latin typeface="Arial" panose="020B0604020202020204"/>
                        </a:rPr>
                        <a:t>50</a:t>
                      </a:r>
                      <a:endParaRPr lang="en-US" altLang="zh-CN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latin typeface="Arial" panose="020B0604020202020204"/>
                        </a:rPr>
                        <a:t>ms</a:t>
                      </a:r>
                      <a:endParaRPr lang="en-US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smtClean="0">
                          <a:latin typeface="Arial" panose="020B0604020202020204"/>
                        </a:rPr>
                        <a:t>P2*</a:t>
                      </a:r>
                      <a:r>
                        <a:rPr lang="en-US" sz="1600" b="0" i="0" u="none" strike="noStrike" baseline="-25000" smtClean="0">
                          <a:latin typeface="Arial" panose="020B0604020202020204"/>
                        </a:rPr>
                        <a:t>Server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latin typeface="Arial" panose="020B0604020202020204"/>
                        </a:rPr>
                        <a:t>0</a:t>
                      </a:r>
                      <a:endParaRPr lang="en-US" altLang="zh-CN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latin typeface="Arial" panose="020B0604020202020204"/>
                        </a:rPr>
                        <a:t>2000</a:t>
                      </a:r>
                      <a:endParaRPr lang="en-US" altLang="zh-CN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ms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latin typeface="Arial" panose="020B0604020202020204"/>
                        </a:rPr>
                        <a:t>S3</a:t>
                      </a:r>
                      <a:r>
                        <a:rPr lang="en-US" sz="1600" b="0" i="0" u="none" strike="noStrike" baseline="-25000" dirty="0" smtClean="0">
                          <a:latin typeface="Arial" panose="020B0604020202020204"/>
                        </a:rPr>
                        <a:t>Server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latin typeface="Arial" panose="020B0604020202020204"/>
                        </a:rPr>
                        <a:t>——</a:t>
                      </a:r>
                      <a:endParaRPr lang="en-US" altLang="zh-CN" sz="1600" b="0" i="0" u="none" strike="noStrike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latin typeface="Arial" panose="020B0604020202020204"/>
                        </a:rPr>
                        <a:t>5000</a:t>
                      </a:r>
                      <a:endParaRPr lang="en-US" altLang="zh-CN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latin typeface="Arial" panose="020B0604020202020204"/>
                        </a:rPr>
                        <a:t>ms</a:t>
                      </a:r>
                      <a:endParaRPr lang="en-US" sz="1600" b="0" i="0" u="none" strike="noStrike" dirty="0">
                        <a:latin typeface="Arial" panose="020B0604020202020204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00473" y="2852936"/>
          <a:ext cx="9505055" cy="3528392"/>
        </p:xfrm>
        <a:graphic>
          <a:graphicData uri="http://schemas.openxmlformats.org/drawingml/2006/table">
            <a:tbl>
              <a:tblPr/>
              <a:tblGrid>
                <a:gridCol w="1878737"/>
                <a:gridCol w="2542106"/>
                <a:gridCol w="2542106"/>
                <a:gridCol w="2542106"/>
              </a:tblGrid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Parameter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Bootloader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Application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OBD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N_As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70ms(time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70ms(time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N_Bs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150ms(time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75ms(time 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N_Br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N_Br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+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) &lt; 50 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N_Br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+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) &lt;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N_Br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+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) &lt; 25 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N_Cs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(N_Cs + N_As) &lt; 50 ms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(N_Cs + N_As) &lt;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(N_Cs + N_As) &lt; 50 ms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N_Cr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150ms(time out)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150ms(time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150ms(timeout)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Blocksize (BS)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STmin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&lt;=1ms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&lt;30ms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&lt;30ms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N_WFTmax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00472" y="980728"/>
            <a:ext cx="93610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支持上述服务的数据流</a:t>
            </a:r>
            <a:r>
              <a:rPr lang="en-US" altLang="zh-CN" dirty="0" smtClean="0">
                <a:solidFill>
                  <a:schemeClr val="tx1"/>
                </a:solidFill>
              </a:rPr>
              <a:t>, </a:t>
            </a:r>
            <a:r>
              <a:rPr lang="zh-CN" altLang="en-US" dirty="0" smtClean="0">
                <a:solidFill>
                  <a:schemeClr val="tx1"/>
                </a:solidFill>
              </a:rPr>
              <a:t>一般 选择</a:t>
            </a:r>
            <a:r>
              <a:rPr lang="en-US" altLang="zh-CN" dirty="0" smtClean="0">
                <a:solidFill>
                  <a:schemeClr val="tx1"/>
                </a:solidFill>
              </a:rPr>
              <a:t>Normal Addressing</a:t>
            </a:r>
            <a:r>
              <a:rPr lang="zh-CN" altLang="en-US" dirty="0" smtClean="0">
                <a:solidFill>
                  <a:schemeClr val="tx1"/>
                </a:solidFill>
              </a:rPr>
              <a:t>模式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参考</a:t>
            </a:r>
            <a:r>
              <a:rPr lang="en-US" altLang="zh-CN" dirty="0" smtClean="0">
                <a:solidFill>
                  <a:schemeClr val="tx1"/>
                </a:solidFill>
              </a:rPr>
              <a:t>SO15765-2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solidFill>
            <a:srgbClr val="C00000"/>
          </a:solidFill>
          <a:prstDash val="solid"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noAutofit/>
      </a:bodyPr>
      <a:lstStyle>
        <a:defPPr marL="1285875" indent="-371475" algn="ctr">
          <a:defRPr dirty="0">
            <a:solidFill>
              <a:srgbClr val="FF3300"/>
            </a:solidFill>
            <a:latin typeface="Arial" panose="020B0604020202020204" pitchFamily="34" charset="0"/>
            <a:ea typeface="宋体" panose="02010600030101010101" pitchFamily="2" charset="-122"/>
          </a:defRPr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 bwMode="auto">
        <a:noFill/>
        <a:ln w="28575" cap="flat" cmpd="sng" algn="ctr">
          <a:solidFill>
            <a:srgbClr val="002060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3991</Words>
  <Application>WPS 演示</Application>
  <PresentationFormat>A4 纸张(210x297 毫米)</PresentationFormat>
  <Paragraphs>836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Bauhaus 93</vt:lpstr>
      <vt:lpstr>黑体</vt:lpstr>
      <vt:lpstr>Times New Roman</vt:lpstr>
      <vt:lpstr>Arial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Administrator</cp:lastModifiedBy>
  <cp:revision>1294</cp:revision>
  <dcterms:created xsi:type="dcterms:W3CDTF">2005-05-16T04:40:00Z</dcterms:created>
  <dcterms:modified xsi:type="dcterms:W3CDTF">2017-11-11T09:35:45Z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